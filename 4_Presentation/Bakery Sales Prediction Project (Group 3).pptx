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f4f07dfd_1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4f4f07dfd_1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 everyone, we are Team Number 3. Today, we’re presenting our final results on the </a:t>
            </a:r>
            <a:r>
              <a:rPr b="1" lang="en">
                <a:solidFill>
                  <a:schemeClr val="dk1"/>
                </a:solidFill>
              </a:rPr>
              <a:t>Bakery Sales Forecasting</a:t>
            </a:r>
            <a:r>
              <a:rPr lang="en">
                <a:solidFill>
                  <a:schemeClr val="dk1"/>
                </a:solidFill>
              </a:rPr>
              <a:t> project. Our goal over the last 10 weeks was to take raw sales and weather data and build a machine learning model capable of predicting daily turnover for different bakery products. I’d like to introduce my team: Louisa Lagmoellar, Andrews Mensah (myself), Akshay Patil and Aadip Thapaliya. Let’s dive into our data.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4e8dcf9d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4e8dcf9d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feeding any data into a model, we had to prepare it. We quickly realized that raw dates and temperatures weren't enough to explain sales spikes. We created several key features: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IsWeekend:</a:t>
            </a:r>
            <a:r>
              <a:rPr lang="en">
                <a:solidFill>
                  <a:schemeClr val="dk1"/>
                </a:solidFill>
              </a:rPr>
              <a:t> We noticed sales behave very differently on Saturdays and Sundays compared to weekdays, so we created a binary flag for this.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Year, Month, Day:</a:t>
            </a:r>
            <a:r>
              <a:rPr lang="en">
                <a:solidFill>
                  <a:schemeClr val="dk1"/>
                </a:solidFill>
              </a:rPr>
              <a:t> Extracted to capture annual growth and monthly seasonality.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Weekday</a:t>
            </a:r>
            <a:r>
              <a:rPr lang="en">
                <a:solidFill>
                  <a:schemeClr val="dk1"/>
                </a:solidFill>
              </a:rPr>
              <a:t>: Integer values </a:t>
            </a:r>
            <a:r>
              <a:rPr lang="en">
                <a:solidFill>
                  <a:schemeClr val="dk1"/>
                </a:solidFill>
              </a:rPr>
              <a:t>were assigned </a:t>
            </a:r>
            <a:r>
              <a:rPr lang="en">
                <a:solidFill>
                  <a:schemeClr val="dk1"/>
                </a:solidFill>
              </a:rPr>
              <a:t>(0=Monday, 6=Sunday) to capture weekly cycles.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KielerWoche:</a:t>
            </a:r>
            <a:r>
              <a:rPr lang="en">
                <a:solidFill>
                  <a:schemeClr val="dk1"/>
                </a:solidFill>
              </a:rPr>
              <a:t> Since this festival is a massive event in Kiel, we created a specific variable to flag these days.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4e8dcf9d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4e8dcf9d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confirm our hypothesis that these features matter, we visualized the 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[Point to Left Chart]:</a:t>
            </a:r>
            <a:r>
              <a:rPr lang="en">
                <a:solidFill>
                  <a:schemeClr val="dk1"/>
                </a:solidFill>
              </a:rPr>
              <a:t> Here you see the average sales on Weekends versus Weekdays. The difference is stark, and the small black lines—the </a:t>
            </a:r>
            <a:r>
              <a:rPr b="1" lang="en">
                <a:solidFill>
                  <a:schemeClr val="dk1"/>
                </a:solidFill>
              </a:rPr>
              <a:t>95% confidence intervals</a:t>
            </a:r>
            <a:r>
              <a:rPr lang="en">
                <a:solidFill>
                  <a:schemeClr val="dk1"/>
                </a:solidFill>
              </a:rPr>
              <a:t>—do not overlap, proving this difference is statistically significant.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[Point to Right Chart]:</a:t>
            </a:r>
            <a:r>
              <a:rPr lang="en">
                <a:solidFill>
                  <a:schemeClr val="dk1"/>
                </a:solidFill>
              </a:rPr>
              <a:t> Similarly, during the </a:t>
            </a:r>
            <a:r>
              <a:rPr b="1" lang="en">
                <a:solidFill>
                  <a:schemeClr val="dk1"/>
                </a:solidFill>
              </a:rPr>
              <a:t>Kieler Woche</a:t>
            </a:r>
            <a:r>
              <a:rPr lang="en">
                <a:solidFill>
                  <a:schemeClr val="dk1"/>
                </a:solidFill>
              </a:rPr>
              <a:t>, sales skyrocket compared to normal days. This confirmed that our 'KielerWoche' feature would be a powerful predictor for our models.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Now I transfer to Aadip to present our Baseline model.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4e8dcf9d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4e8dcf9d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started with a Linear Regression baseline, and it actually performed surprisingly well. Here is our model </a:t>
            </a:r>
            <a:r>
              <a:rPr lang="en">
                <a:solidFill>
                  <a:schemeClr val="dk1"/>
                </a:solidFill>
              </a:rPr>
              <a:t>equation and the key drivers in our analysis were Warengruppe_2 (Product group 2), Sales on weekends and Kielerwoche (Events).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Good News:</a:t>
            </a:r>
            <a:r>
              <a:rPr lang="en">
                <a:solidFill>
                  <a:schemeClr val="dk1"/>
                </a:solidFill>
              </a:rPr>
              <a:t> Our Adjusted R² is </a:t>
            </a:r>
            <a:r>
              <a:rPr b="1" lang="en">
                <a:solidFill>
                  <a:schemeClr val="dk1"/>
                </a:solidFill>
              </a:rPr>
              <a:t>0.69</a:t>
            </a:r>
            <a:r>
              <a:rPr lang="en">
                <a:solidFill>
                  <a:schemeClr val="dk1"/>
                </a:solidFill>
              </a:rPr>
              <a:t>. This means our simple linear model explains nearly </a:t>
            </a:r>
            <a:r>
              <a:rPr b="1" lang="en">
                <a:solidFill>
                  <a:schemeClr val="dk1"/>
                </a:solidFill>
              </a:rPr>
              <a:t>70%</a:t>
            </a:r>
            <a:r>
              <a:rPr lang="en">
                <a:solidFill>
                  <a:schemeClr val="dk1"/>
                </a:solidFill>
              </a:rPr>
              <a:t> of the fluctuation in sales. This confirms that our core features—like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 Group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IsWeekend</a:t>
            </a:r>
            <a:r>
              <a:rPr lang="en">
                <a:solidFill>
                  <a:schemeClr val="dk1"/>
                </a:solidFill>
              </a:rPr>
              <a:t>—are indeed the main drivers of demand.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Bad News:</a:t>
            </a:r>
            <a:r>
              <a:rPr lang="en">
                <a:solidFill>
                  <a:schemeClr val="dk1"/>
                </a:solidFill>
              </a:rPr>
              <a:t> Despite the high R², our Mean Absolute Percentage Error (MAPE) is </a:t>
            </a:r>
            <a:r>
              <a:rPr b="1" lang="en">
                <a:solidFill>
                  <a:schemeClr val="dk1"/>
                </a:solidFill>
              </a:rPr>
              <a:t>32%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What this means:</a:t>
            </a:r>
            <a:r>
              <a:rPr lang="en">
                <a:solidFill>
                  <a:schemeClr val="dk1"/>
                </a:solidFill>
              </a:rPr>
              <a:t> While the model captures the general </a:t>
            </a:r>
            <a:r>
              <a:rPr i="1" lang="en">
                <a:solidFill>
                  <a:schemeClr val="dk1"/>
                </a:solidFill>
              </a:rPr>
              <a:t>trend</a:t>
            </a:r>
            <a:r>
              <a:rPr lang="en">
                <a:solidFill>
                  <a:schemeClr val="dk1"/>
                </a:solidFill>
              </a:rPr>
              <a:t>, its individual daily predictions are often off by about a third. For a bakery, missing inventory by 30% results in too much waste or too many empty shelves.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Next Step:</a:t>
            </a:r>
            <a:r>
              <a:rPr lang="en">
                <a:solidFill>
                  <a:schemeClr val="dk1"/>
                </a:solidFill>
              </a:rPr>
              <a:t> This justifies moving to a </a:t>
            </a:r>
            <a:r>
              <a:rPr b="1" lang="en">
                <a:solidFill>
                  <a:schemeClr val="dk1"/>
                </a:solidFill>
              </a:rPr>
              <a:t>Neural Network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4e8dcf9d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4e8dcf9d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KielerWoche &amp; Wettercode (Events Gap): </a:t>
            </a:r>
            <a:r>
              <a:rPr lang="en">
                <a:solidFill>
                  <a:schemeClr val="dk1"/>
                </a:solidFill>
              </a:rPr>
              <a:t>For the event variables, we filled missing values with 0. This is a structural decision, not a guess. Since the original files only listed dates when the festival or a weather event </a:t>
            </a:r>
            <a:r>
              <a:rPr i="1" lang="en">
                <a:solidFill>
                  <a:schemeClr val="dk1"/>
                </a:solidFill>
              </a:rPr>
              <a:t>actually occurred</a:t>
            </a:r>
            <a:r>
              <a:rPr lang="en">
                <a:solidFill>
                  <a:schemeClr val="dk1"/>
                </a:solidFill>
              </a:rPr>
              <a:t>, any date that didn't match during our merge is logically a 'non-event' day. Therefore, treating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NaN</a:t>
            </a:r>
            <a:r>
              <a:rPr lang="en">
                <a:solidFill>
                  <a:schemeClr val="dk1"/>
                </a:solidFill>
              </a:rPr>
              <a:t> as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>
                <a:solidFill>
                  <a:schemeClr val="dk1"/>
                </a:solidFill>
              </a:rPr>
              <a:t> correctly represents 'No Festival' or 'Normal Weather'.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Weather Imputation: </a:t>
            </a:r>
            <a:r>
              <a:rPr lang="en">
                <a:solidFill>
                  <a:schemeClr val="dk1"/>
                </a:solidFill>
              </a:rPr>
              <a:t>For the weather data, we used a </a:t>
            </a:r>
            <a:r>
              <a:rPr b="1" lang="en">
                <a:solidFill>
                  <a:schemeClr val="dk1"/>
                </a:solidFill>
              </a:rPr>
              <a:t>Forward Fill</a:t>
            </a:r>
            <a:r>
              <a:rPr lang="en">
                <a:solidFill>
                  <a:schemeClr val="dk1"/>
                </a:solidFill>
              </a:rPr>
              <a:t> strategy. Instead of calculating a mathematical average or drawing a line between points, we simply carried the last known temperature or wind speed forward to fill any gaps. This approach—often called a 'Persistence Model' in meteorology—assumes that the weather next hour is most likely the same as it is right now. This prevents us from introducing artificial fluctuations into the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Now I transfer to Akshay to present our Neural nets model.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4e8dcf9d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4e8dcf9d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 our baseline model had </a:t>
            </a:r>
            <a:r>
              <a:rPr lang="en">
                <a:solidFill>
                  <a:schemeClr val="dk1"/>
                </a:solidFill>
              </a:rPr>
              <a:t>Mean Absolute Percentage Error (MAPE) is </a:t>
            </a:r>
            <a:r>
              <a:rPr b="1" lang="en">
                <a:solidFill>
                  <a:schemeClr val="dk1"/>
                </a:solidFill>
              </a:rPr>
              <a:t>32%</a:t>
            </a:r>
            <a:r>
              <a:rPr lang="en">
                <a:solidFill>
                  <a:schemeClr val="dk1"/>
                </a:solidFill>
              </a:rPr>
              <a:t>.So, We need a model that can handle the remaining 30% of complexity—the non-linear interactions—to drive that error rate down that we could not do in our baseline model.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Moving on to our optimized solution, we implemented a </a:t>
            </a:r>
            <a:r>
              <a:rPr b="1" lang="en">
                <a:solidFill>
                  <a:schemeClr val="dk1"/>
                </a:solidFill>
              </a:rPr>
              <a:t>Feed-Forward Neural Network</a:t>
            </a:r>
            <a:r>
              <a:rPr lang="en">
                <a:solidFill>
                  <a:schemeClr val="dk1"/>
                </a:solidFill>
              </a:rPr>
              <a:t> using TensorFlow and Keras. Let me walk you through the architecture we chose and why: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Network Structure:</a:t>
            </a:r>
            <a:r>
              <a:rPr lang="en">
                <a:solidFill>
                  <a:schemeClr val="dk1"/>
                </a:solidFill>
              </a:rPr>
              <a:t> We designed a network with two main hidden layers.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first layer</a:t>
            </a:r>
            <a:r>
              <a:rPr lang="en">
                <a:solidFill>
                  <a:schemeClr val="dk1"/>
                </a:solidFill>
              </a:rPr>
              <a:t> has 64 neurons to capture the broad patterns in the data.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second layer</a:t>
            </a:r>
            <a:r>
              <a:rPr lang="en">
                <a:solidFill>
                  <a:schemeClr val="dk1"/>
                </a:solidFill>
              </a:rPr>
              <a:t> narrows down to 32 neurons to refine those patterns.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used </a:t>
            </a:r>
            <a:r>
              <a:rPr b="1" lang="en">
                <a:solidFill>
                  <a:schemeClr val="dk1"/>
                </a:solidFill>
              </a:rPr>
              <a:t>ReLU activation</a:t>
            </a:r>
            <a:r>
              <a:rPr lang="en">
                <a:solidFill>
                  <a:schemeClr val="dk1"/>
                </a:solidFill>
              </a:rPr>
              <a:t> functions throughout because they are computationally efficient and handle non-linear relationships well.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Handling Overfitting:</a:t>
            </a:r>
            <a:r>
              <a:rPr lang="en">
                <a:solidFill>
                  <a:schemeClr val="dk1"/>
                </a:solidFill>
              </a:rPr>
              <a:t> A critical addition here is the </a:t>
            </a:r>
            <a:r>
              <a:rPr b="1" lang="en">
                <a:solidFill>
                  <a:schemeClr val="dk1"/>
                </a:solidFill>
              </a:rPr>
              <a:t>Dropout Layer</a:t>
            </a:r>
            <a:r>
              <a:rPr lang="en">
                <a:solidFill>
                  <a:schemeClr val="dk1"/>
                </a:solidFill>
              </a:rPr>
              <a:t> (set to 0.2).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Why?</a:t>
            </a:r>
            <a:r>
              <a:rPr lang="en">
                <a:solidFill>
                  <a:schemeClr val="dk1"/>
                </a:solidFill>
              </a:rPr>
              <a:t> Neural nets can easily memorize training data. This layer randomly 'turns off' 20% of the neurons during training, forcing the network to learn robust features rather than just memorizing noise.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Output &amp; Compilation: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Output Layer</a:t>
            </a:r>
            <a:r>
              <a:rPr lang="en">
                <a:solidFill>
                  <a:schemeClr val="dk1"/>
                </a:solidFill>
              </a:rPr>
              <a:t> has just 1 unit because this is a regression task—we are predicting a single continuous number (Sales).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For the loss function, we chose </a:t>
            </a:r>
            <a:r>
              <a:rPr b="1" lang="en">
                <a:solidFill>
                  <a:schemeClr val="dk1"/>
                </a:solidFill>
              </a:rPr>
              <a:t>Mean Absolute Error (MAE)</a:t>
            </a:r>
            <a:r>
              <a:rPr lang="en">
                <a:solidFill>
                  <a:schemeClr val="dk1"/>
                </a:solidFill>
              </a:rPr>
              <a:t> instead of Mean Squared Error.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Reasoning:</a:t>
            </a:r>
            <a:r>
              <a:rPr lang="en">
                <a:solidFill>
                  <a:schemeClr val="dk1"/>
                </a:solidFill>
              </a:rPr>
              <a:t> Sales data can have outliers (like the Kieler Woche spikes). MAE is less sensitive to outliers than MSE, preventing the model from being thrown off by a few extreme days.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Training:</a:t>
            </a:r>
            <a:r>
              <a:rPr lang="en">
                <a:solidFill>
                  <a:schemeClr val="dk1"/>
                </a:solidFill>
              </a:rPr>
              <a:t> We trained for 50 epochs using the </a:t>
            </a:r>
            <a:r>
              <a:rPr b="1" lang="en">
                <a:solidFill>
                  <a:schemeClr val="dk1"/>
                </a:solidFill>
              </a:rPr>
              <a:t>Adam optimizer</a:t>
            </a:r>
            <a:r>
              <a:rPr lang="en">
                <a:solidFill>
                  <a:schemeClr val="dk1"/>
                </a:solidFill>
              </a:rPr>
              <a:t>, which adjusts the learning rate automatically, making the training process faster and more stable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e8dcf9d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e8dcf9d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results were a significant step up from the baseline.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[Point to Graph]:</a:t>
            </a:r>
            <a:r>
              <a:rPr lang="en">
                <a:solidFill>
                  <a:schemeClr val="dk1"/>
                </a:solidFill>
              </a:rPr>
              <a:t> As you can see in the Loss Curve, both training and validation error decreased steadily and converged, which tells us our Dropout strategy worked—we avoided overfitting.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4e8dcf9d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4e8dcf9d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Performance:</a:t>
            </a:r>
            <a:r>
              <a:rPr lang="en">
                <a:solidFill>
                  <a:schemeClr val="dk1"/>
                </a:solidFill>
              </a:rPr>
              <a:t> Our overall Error (MAPE) dropped from </a:t>
            </a:r>
            <a:r>
              <a:rPr b="1" lang="en">
                <a:solidFill>
                  <a:schemeClr val="dk1"/>
                </a:solidFill>
              </a:rPr>
              <a:t>32%</a:t>
            </a:r>
            <a:r>
              <a:rPr lang="en">
                <a:solidFill>
                  <a:schemeClr val="dk1"/>
                </a:solidFill>
              </a:rPr>
              <a:t> (baseline) to around </a:t>
            </a:r>
            <a:r>
              <a:rPr b="1" lang="en">
                <a:solidFill>
                  <a:schemeClr val="dk1"/>
                </a:solidFill>
              </a:rPr>
              <a:t>20.2%</a:t>
            </a:r>
            <a:r>
              <a:rPr lang="en">
                <a:solidFill>
                  <a:schemeClr val="dk1"/>
                </a:solidFill>
              </a:rPr>
              <a:t>. This is a solid improvement, essentially cutting our prediction error by a third.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Detail:</a:t>
            </a:r>
            <a:r>
              <a:rPr lang="en">
                <a:solidFill>
                  <a:schemeClr val="dk1"/>
                </a:solidFill>
              </a:rPr>
              <a:t> It’s worth noting that </a:t>
            </a:r>
            <a:r>
              <a:rPr b="1" lang="en">
                <a:solidFill>
                  <a:schemeClr val="dk1"/>
                </a:solidFill>
              </a:rPr>
              <a:t>Product Group 2</a:t>
            </a:r>
            <a:r>
              <a:rPr lang="en">
                <a:solidFill>
                  <a:schemeClr val="dk1"/>
                </a:solidFill>
              </a:rPr>
              <a:t> was the easiest to predict with only </a:t>
            </a:r>
            <a:r>
              <a:rPr b="1" lang="en">
                <a:solidFill>
                  <a:schemeClr val="dk1"/>
                </a:solidFill>
              </a:rPr>
              <a:t>~13.8% error</a:t>
            </a:r>
            <a:r>
              <a:rPr lang="en">
                <a:solidFill>
                  <a:schemeClr val="dk1"/>
                </a:solidFill>
              </a:rPr>
              <a:t>, likely due to stable daily demand. On the other hand, </a:t>
            </a:r>
            <a:r>
              <a:rPr b="1" lang="en">
                <a:solidFill>
                  <a:schemeClr val="dk1"/>
                </a:solidFill>
              </a:rPr>
              <a:t>Product Group 6</a:t>
            </a:r>
            <a:r>
              <a:rPr lang="en">
                <a:solidFill>
                  <a:schemeClr val="dk1"/>
                </a:solidFill>
              </a:rPr>
              <a:t> remained highly volatile and was our hardest to forecast, with an error rate of </a:t>
            </a:r>
            <a:r>
              <a:rPr b="1" lang="en">
                <a:solidFill>
                  <a:schemeClr val="dk1"/>
                </a:solidFill>
              </a:rPr>
              <a:t>~58%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 I transfer to lousia to present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4e8dcf9d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4e8dcf9d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look at two specific examples to understand where our model succeeds and fails.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First, the Worst Fail:</a:t>
            </a:r>
            <a:r>
              <a:rPr lang="en">
                <a:solidFill>
                  <a:schemeClr val="dk1"/>
                </a:solidFill>
              </a:rPr>
              <a:t> Our model completely missed </a:t>
            </a:r>
            <a:r>
              <a:rPr b="1" lang="en">
                <a:solidFill>
                  <a:schemeClr val="dk1"/>
                </a:solidFill>
              </a:rPr>
              <a:t>New Year's Eve (Dec 31st)</a:t>
            </a:r>
            <a:r>
              <a:rPr lang="en">
                <a:solidFill>
                  <a:schemeClr val="dk1"/>
                </a:solidFill>
              </a:rPr>
              <a:t>. It predicted </a:t>
            </a:r>
            <a:r>
              <a:rPr b="1" lang="en">
                <a:solidFill>
                  <a:schemeClr val="dk1"/>
                </a:solidFill>
              </a:rPr>
              <a:t>262€</a:t>
            </a:r>
            <a:r>
              <a:rPr lang="en">
                <a:solidFill>
                  <a:schemeClr val="dk1"/>
                </a:solidFill>
              </a:rPr>
              <a:t>—which is a typical Sunday sales figure—but the actual demand was over </a:t>
            </a:r>
            <a:r>
              <a:rPr b="1" lang="en">
                <a:solidFill>
                  <a:schemeClr val="dk1"/>
                </a:solidFill>
              </a:rPr>
              <a:t>1,400€</a:t>
            </a:r>
            <a:r>
              <a:rPr lang="en">
                <a:solidFill>
                  <a:schemeClr val="dk1"/>
                </a:solidFill>
              </a:rPr>
              <a:t>. </a:t>
            </a:r>
            <a:r>
              <a:rPr b="1" lang="en">
                <a:solidFill>
                  <a:schemeClr val="dk1"/>
                </a:solidFill>
              </a:rPr>
              <a:t>Why?</a:t>
            </a:r>
            <a:r>
              <a:rPr lang="en">
                <a:solidFill>
                  <a:schemeClr val="dk1"/>
                </a:solidFill>
              </a:rPr>
              <a:t> The model only knows it's a 'Sunday in December.' It doesn't have a specific feature for 'New Year's Eve,' so it couldn't foresee the massive holiday rush. This is a clear signal that we need a 'Public Holiday' calendar feature in the future.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But look at the Best Improvement:</a:t>
            </a:r>
            <a:r>
              <a:rPr lang="en">
                <a:solidFill>
                  <a:schemeClr val="dk1"/>
                </a:solidFill>
              </a:rPr>
              <a:t> On </a:t>
            </a:r>
            <a:r>
              <a:rPr b="1" lang="en">
                <a:solidFill>
                  <a:schemeClr val="dk1"/>
                </a:solidFill>
              </a:rPr>
              <a:t>August 13th</a:t>
            </a:r>
            <a:r>
              <a:rPr lang="en">
                <a:solidFill>
                  <a:schemeClr val="dk1"/>
                </a:solidFill>
              </a:rPr>
              <a:t>, a busy summer Sunday, the model was spot on. It predicted </a:t>
            </a:r>
            <a:r>
              <a:rPr b="1" lang="en">
                <a:solidFill>
                  <a:schemeClr val="dk1"/>
                </a:solidFill>
              </a:rPr>
              <a:t>515€</a:t>
            </a:r>
            <a:r>
              <a:rPr lang="en">
                <a:solidFill>
                  <a:schemeClr val="dk1"/>
                </a:solidFill>
              </a:rPr>
              <a:t> against an actual of </a:t>
            </a:r>
            <a:r>
              <a:rPr b="1" lang="en">
                <a:solidFill>
                  <a:schemeClr val="dk1"/>
                </a:solidFill>
              </a:rPr>
              <a:t>537€</a:t>
            </a:r>
            <a:r>
              <a:rPr lang="en">
                <a:solidFill>
                  <a:schemeClr val="dk1"/>
                </a:solidFill>
              </a:rPr>
              <a:t>—an error of just </a:t>
            </a:r>
            <a:r>
              <a:rPr b="1" lang="en">
                <a:solidFill>
                  <a:schemeClr val="dk1"/>
                </a:solidFill>
              </a:rPr>
              <a:t>4%</a:t>
            </a:r>
            <a:r>
              <a:rPr lang="en">
                <a:solidFill>
                  <a:schemeClr val="dk1"/>
                </a:solidFill>
              </a:rPr>
              <a:t>. The Baseline Linear Model typically underestimates these peak days because it uses a fixed 'Weekend' adder. The Neural Network, however, was smart enough to combine 'Weekend' + 'August' + 'Good Weather' to predict the high demand accurately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531d3fb1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531d3fb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conclusion, we successfully improved our forecast accuracy by </a:t>
            </a:r>
            <a:r>
              <a:rPr b="1" lang="en">
                <a:solidFill>
                  <a:schemeClr val="dk1"/>
                </a:solidFill>
              </a:rPr>
              <a:t>over a third</a:t>
            </a:r>
            <a:r>
              <a:rPr lang="en">
                <a:solidFill>
                  <a:schemeClr val="dk1"/>
                </a:solidFill>
              </a:rPr>
              <a:t> by moving from Linear Regression to Neural Networks.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Key Takeaways: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Feature Engineering is King:</a:t>
            </a:r>
            <a:r>
              <a:rPr lang="en">
                <a:solidFill>
                  <a:schemeClr val="dk1"/>
                </a:solidFill>
              </a:rPr>
              <a:t> We found that simple variables like 'IsWeekend' were often more important than raw weather 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Complexity Pays Off:</a:t>
            </a:r>
            <a:r>
              <a:rPr lang="en">
                <a:solidFill>
                  <a:schemeClr val="dk1"/>
                </a:solidFill>
              </a:rPr>
              <a:t> The Neural Net handled the messy, non-linear real-world data much better, reducing our error rate from </a:t>
            </a:r>
            <a:r>
              <a:rPr b="1" lang="en">
                <a:solidFill>
                  <a:schemeClr val="dk1"/>
                </a:solidFill>
              </a:rPr>
              <a:t>32%</a:t>
            </a:r>
            <a:r>
              <a:rPr lang="en">
                <a:solidFill>
                  <a:schemeClr val="dk1"/>
                </a:solidFill>
              </a:rPr>
              <a:t> down to </a:t>
            </a:r>
            <a:r>
              <a:rPr b="1" lang="en">
                <a:solidFill>
                  <a:schemeClr val="dk1"/>
                </a:solidFill>
              </a:rPr>
              <a:t>~20%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Next Steps:</a:t>
            </a:r>
            <a:r>
              <a:rPr lang="en">
                <a:solidFill>
                  <a:schemeClr val="dk1"/>
                </a:solidFill>
              </a:rPr>
              <a:t> To fix our 'Worst Fails'—like the massive miss on New Year's Eve—our immediate next step would be to integrate a dedicated </a:t>
            </a:r>
            <a:r>
              <a:rPr b="1" lang="en">
                <a:solidFill>
                  <a:schemeClr val="dk1"/>
                </a:solidFill>
              </a:rPr>
              <a:t>'Public Holiday'</a:t>
            </a:r>
            <a:r>
              <a:rPr lang="en">
                <a:solidFill>
                  <a:schemeClr val="dk1"/>
                </a:solidFill>
              </a:rPr>
              <a:t> calendar.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 for listening! We are happy to take any questions.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 this selected slide, add &quot;Generated using Google Nano Banana Model (6th Jan, 2026)&quot; at the bottom right of the slide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D1D1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 and brief description of self-created variables</a:t>
            </a:r>
            <a:endParaRPr b="1" sz="34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59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Overview:</a:t>
            </a:r>
            <a:r>
              <a:rPr lang="en" sz="1600">
                <a:solidFill>
                  <a:schemeClr val="dk1"/>
                </a:solidFill>
              </a:rPr>
              <a:t> To improve our model's ability to capture seasonality and trends, we engineered several features from the raw </a:t>
            </a:r>
            <a:r>
              <a:rPr lang="en" sz="1600">
                <a:solidFill>
                  <a:srgbClr val="188038"/>
                </a:solidFill>
              </a:rPr>
              <a:t>Datum</a:t>
            </a:r>
            <a:r>
              <a:rPr lang="en" sz="1600">
                <a:solidFill>
                  <a:schemeClr val="dk1"/>
                </a:solidFill>
              </a:rPr>
              <a:t> column.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Variables: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rgbClr val="188038"/>
                </a:solidFill>
              </a:rPr>
              <a:t>Year</a:t>
            </a:r>
            <a:r>
              <a:rPr b="1" lang="en" sz="1600">
                <a:solidFill>
                  <a:schemeClr val="dk1"/>
                </a:solidFill>
              </a:rPr>
              <a:t>, </a:t>
            </a:r>
            <a:r>
              <a:rPr b="1" lang="en" sz="1600">
                <a:solidFill>
                  <a:srgbClr val="188038"/>
                </a:solidFill>
              </a:rPr>
              <a:t>Month</a:t>
            </a:r>
            <a:r>
              <a:rPr b="1" lang="en" sz="1600">
                <a:solidFill>
                  <a:schemeClr val="dk1"/>
                </a:solidFill>
              </a:rPr>
              <a:t>, </a:t>
            </a:r>
            <a:r>
              <a:rPr b="1" lang="en" sz="1600">
                <a:solidFill>
                  <a:srgbClr val="188038"/>
                </a:solidFill>
              </a:rPr>
              <a:t>Day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chemeClr val="dk1"/>
                </a:solidFill>
              </a:rPr>
              <a:t> Extracted to capture annual growth and monthly seasonality.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rgbClr val="188038"/>
                </a:solidFill>
              </a:rPr>
              <a:t>Weekday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chemeClr val="dk1"/>
                </a:solidFill>
              </a:rPr>
              <a:t> Integer values were assigned (0=Monday, 6=Sunday) to capture weekly cycles.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rgbClr val="188038"/>
                </a:solidFill>
              </a:rPr>
              <a:t>IsWeekend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chemeClr val="dk1"/>
                </a:solidFill>
              </a:rPr>
              <a:t> Boolean flag (True for Saturday/Sunday) to c</a:t>
            </a:r>
            <a:r>
              <a:rPr lang="en" sz="1600">
                <a:solidFill>
                  <a:schemeClr val="dk1"/>
                </a:solidFill>
              </a:rPr>
              <a:t>apture the high traffic on weekends.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rgbClr val="188038"/>
                </a:solidFill>
              </a:rPr>
              <a:t>KielerWoche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Binary flag (1 during the event, 0 otherwise). Accounts for the massive influx of visitors during the festival.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D1D1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Bar charts with confidence intervals for two self-created variables</a:t>
            </a:r>
            <a:endParaRPr b="1" sz="1800"/>
          </a:p>
        </p:txBody>
      </p:sp>
      <p:pic>
        <p:nvPicPr>
          <p:cNvPr id="66" name="Google Shape;66;p15" title="plot_weekd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50" y="1210075"/>
            <a:ext cx="4099724" cy="30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plot_mont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0899" y="1300525"/>
            <a:ext cx="4600026" cy="2875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3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D1D1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Baseline Model - Linear Regression</a:t>
            </a:r>
            <a:endParaRPr b="1" sz="1800"/>
          </a:p>
        </p:txBody>
      </p:sp>
      <p:sp>
        <p:nvSpPr>
          <p:cNvPr id="73" name="Google Shape;73;p16"/>
          <p:cNvSpPr txBox="1"/>
          <p:nvPr/>
        </p:nvSpPr>
        <p:spPr>
          <a:xfrm>
            <a:off x="311700" y="506300"/>
            <a:ext cx="8520600" cy="54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Model Equation: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Sales = β0 - 70.68 (Warengruppe_1) + 218.58 (Warengruppe_2) - 27.87 (Warengruppe_3) - 103.27 (Warengruppe_4) + 88.88 (Warengruppe_5) - 105.64 (Warengruppe_6) + 47.88 (IsWeekend) + 1.13 (Weekday) + 14.84 (KielerWoche) + 3.92 (Temperature) + 0.15 (WindSpeed) - 0.08 (CloudCover) + 0.01 (WeatherCode) - 11.48 (Year) - 1.06 (Month) + 0.35 (Day)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Key Drivers: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Product Type:</a:t>
            </a:r>
            <a:r>
              <a:rPr lang="en" sz="1600">
                <a:solidFill>
                  <a:schemeClr val="dk1"/>
                </a:solidFill>
              </a:rPr>
              <a:t> The strongest predictor (Group 2 sells +218€ vs baseline).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Seasonality:</a:t>
            </a:r>
            <a:r>
              <a:rPr lang="en" sz="1600">
                <a:solidFill>
                  <a:schemeClr val="dk1"/>
                </a:solidFill>
              </a:rPr>
              <a:t> Weekends (+48€) and Events (+15€) are significant positive drivers.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Model Performance: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Validation Adjusted R²: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0.6859</a:t>
            </a:r>
            <a:r>
              <a:rPr lang="en" sz="1600">
                <a:solidFill>
                  <a:schemeClr val="dk1"/>
                </a:solidFill>
              </a:rPr>
              <a:t> (Strong Baseline).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Validation MAPE: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32.12%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Conclusion:</a:t>
            </a:r>
            <a:r>
              <a:rPr lang="en" sz="1600">
                <a:solidFill>
                  <a:schemeClr val="dk1"/>
                </a:solidFill>
              </a:rPr>
              <a:t> The model explains </a:t>
            </a:r>
            <a:r>
              <a:rPr b="1" lang="en" sz="1600">
                <a:solidFill>
                  <a:schemeClr val="dk1"/>
                </a:solidFill>
              </a:rPr>
              <a:t>~69%</a:t>
            </a:r>
            <a:r>
              <a:rPr lang="en" sz="1600">
                <a:solidFill>
                  <a:schemeClr val="dk1"/>
                </a:solidFill>
              </a:rPr>
              <a:t> of the variance in sales, proving that basic features (Product + Time) work well. However, a </a:t>
            </a:r>
            <a:r>
              <a:rPr b="1" lang="en" sz="1600">
                <a:solidFill>
                  <a:schemeClr val="dk1"/>
                </a:solidFill>
              </a:rPr>
              <a:t>32% average error</a:t>
            </a:r>
            <a:r>
              <a:rPr lang="en" sz="1600">
                <a:solidFill>
                  <a:schemeClr val="dk1"/>
                </a:solidFill>
              </a:rPr>
              <a:t> is still too high for precise inventory planning.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11700" y="3958800"/>
            <a:ext cx="8311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D1D1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Type of missing value imputation used</a:t>
            </a:r>
            <a:endParaRPr b="1" sz="18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Challenge:</a:t>
            </a:r>
            <a:r>
              <a:rPr lang="en" sz="1600">
                <a:solidFill>
                  <a:schemeClr val="dk1"/>
                </a:solidFill>
              </a:rPr>
              <a:t> The </a:t>
            </a:r>
            <a:r>
              <a:rPr b="1" lang="en" sz="1600">
                <a:solidFill>
                  <a:srgbClr val="FF0000"/>
                </a:solidFill>
              </a:rPr>
              <a:t>weather </a:t>
            </a:r>
            <a:r>
              <a:rPr lang="en" sz="1600">
                <a:solidFill>
                  <a:schemeClr val="dk1"/>
                </a:solidFill>
              </a:rPr>
              <a:t>dataset and </a:t>
            </a:r>
            <a:r>
              <a:rPr b="1" lang="en" sz="1600">
                <a:solidFill>
                  <a:srgbClr val="FF0000"/>
                </a:solidFill>
              </a:rPr>
              <a:t>Kieler Woche</a:t>
            </a:r>
            <a:r>
              <a:rPr b="1" lang="en" sz="1600">
                <a:solidFill>
                  <a:srgbClr val="FF0000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contained missing entries.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Imputation Strategy: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KielerWoche &amp; Wettercode Dataset:</a:t>
            </a:r>
            <a:r>
              <a:rPr lang="en" sz="1600">
                <a:solidFill>
                  <a:schemeClr val="dk1"/>
                </a:solidFill>
              </a:rPr>
              <a:t> Filled </a:t>
            </a:r>
            <a:r>
              <a:rPr lang="en" sz="1600">
                <a:solidFill>
                  <a:srgbClr val="188038"/>
                </a:solidFill>
              </a:rPr>
              <a:t>NaN</a:t>
            </a:r>
            <a:r>
              <a:rPr lang="en" sz="1600">
                <a:solidFill>
                  <a:schemeClr val="dk1"/>
                </a:solidFill>
              </a:rPr>
              <a:t> with </a:t>
            </a:r>
            <a:r>
              <a:rPr lang="en" sz="1600">
                <a:solidFill>
                  <a:srgbClr val="188038"/>
                </a:solidFill>
              </a:rPr>
              <a:t>0</a:t>
            </a:r>
            <a:r>
              <a:rPr lang="en" sz="1600">
                <a:solidFill>
                  <a:schemeClr val="dk1"/>
                </a:solidFill>
              </a:rPr>
              <a:t> (Assumed "No Event" / "No significant weather" if missing). </a:t>
            </a:r>
            <a:r>
              <a:rPr b="1" lang="en" sz="1600" u="sng">
                <a:solidFill>
                  <a:schemeClr val="dk1"/>
                </a:solidFill>
              </a:rPr>
              <a:t>Reasoning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chemeClr val="dk1"/>
                </a:solidFill>
              </a:rPr>
              <a:t> This is a structural decision, not a guess. Since the original files only listed dates when the festival or a weather event </a:t>
            </a:r>
            <a:r>
              <a:rPr i="1" lang="en" sz="1600">
                <a:solidFill>
                  <a:schemeClr val="dk1"/>
                </a:solidFill>
              </a:rPr>
              <a:t>actually occurred</a:t>
            </a:r>
            <a:r>
              <a:rPr lang="en" sz="1600">
                <a:solidFill>
                  <a:schemeClr val="dk1"/>
                </a:solidFill>
              </a:rPr>
              <a:t>, any date that didn't match during our merge is logically a 'non-event' day. Therefore, treating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NaN</a:t>
            </a:r>
            <a:r>
              <a:rPr lang="en" sz="1600">
                <a:solidFill>
                  <a:schemeClr val="dk1"/>
                </a:solidFill>
              </a:rPr>
              <a:t> as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600">
                <a:solidFill>
                  <a:schemeClr val="dk1"/>
                </a:solidFill>
              </a:rPr>
              <a:t> correctly represents 'No Festival' or 'Normal Weather'.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Weather Imputation (Temp, Wind, Clouds):</a:t>
            </a:r>
            <a:r>
              <a:rPr lang="en" sz="1600">
                <a:solidFill>
                  <a:schemeClr val="dk1"/>
                </a:solidFill>
              </a:rPr>
              <a:t> Used </a:t>
            </a:r>
            <a:r>
              <a:rPr b="1" lang="en" sz="1600">
                <a:solidFill>
                  <a:schemeClr val="dk1"/>
                </a:solidFill>
              </a:rPr>
              <a:t>Forward Fill</a:t>
            </a:r>
            <a:r>
              <a:rPr lang="en" sz="1600">
                <a:solidFill>
                  <a:schemeClr val="dk1"/>
                </a:solidFill>
              </a:rPr>
              <a:t> followed by </a:t>
            </a:r>
            <a:r>
              <a:rPr b="1" lang="en" sz="1600">
                <a:solidFill>
                  <a:schemeClr val="dk1"/>
                </a:solidFill>
              </a:rPr>
              <a:t>Backward Fill</a:t>
            </a:r>
            <a:r>
              <a:rPr lang="en" sz="1600">
                <a:solidFill>
                  <a:schemeClr val="dk1"/>
                </a:solidFill>
              </a:rPr>
              <a:t>. </a:t>
            </a:r>
            <a:r>
              <a:rPr b="1" lang="en" sz="1600" u="sng">
                <a:solidFill>
                  <a:schemeClr val="dk1"/>
                </a:solidFill>
              </a:rPr>
              <a:t>Reasoning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r>
              <a:rPr lang="en" sz="1600">
                <a:solidFill>
                  <a:schemeClr val="dk1"/>
                </a:solidFill>
              </a:rPr>
              <a:t> Weather conditions (like temperature or cloud cover) typically persist over short periods. Using the last known value is a safe, logical baseline (Persistence Model).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1361850" y="105900"/>
            <a:ext cx="5946600" cy="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D1D1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Neural network model</a:t>
            </a:r>
            <a:endParaRPr b="1" sz="1800"/>
          </a:p>
        </p:txBody>
      </p:sp>
      <p:pic>
        <p:nvPicPr>
          <p:cNvPr id="86" name="Google Shape;86;p18" title="ray-so-exp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843" y="534250"/>
            <a:ext cx="5946455" cy="444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Neural Network Training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9" title="nn_loss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9463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4962100" y="1528800"/>
            <a:ext cx="3870300" cy="28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Observations: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training loss decreases steadily, indicating the model is learning.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validation loss stabilizes around 50 epochs, suggesting the model has converged without significant overfitting (thanks to the Dropout layer).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D1D1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Neural Network Results (MAPE)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Overall Validation Performance: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Neural Net Validation MAPE: 0.2018</a:t>
            </a:r>
            <a:r>
              <a:rPr lang="en" sz="1600">
                <a:solidFill>
                  <a:schemeClr val="dk1"/>
                </a:solidFill>
              </a:rPr>
              <a:t> (20.18% ). On average, our predictions are off by ~20.18%)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Performance by Product Group: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Warengruppe </a:t>
            </a:r>
            <a:r>
              <a:rPr b="1" lang="en" sz="1600">
                <a:solidFill>
                  <a:schemeClr val="dk1"/>
                </a:solidFill>
              </a:rPr>
              <a:t>1:</a:t>
            </a:r>
            <a:r>
              <a:rPr lang="en" sz="1600">
                <a:solidFill>
                  <a:schemeClr val="dk1"/>
                </a:solidFill>
              </a:rPr>
              <a:t> 0.2342 (23.4%)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Warengruppe </a:t>
            </a:r>
            <a:r>
              <a:rPr b="1" lang="en" sz="1600">
                <a:solidFill>
                  <a:schemeClr val="dk1"/>
                </a:solidFill>
              </a:rPr>
              <a:t>2:</a:t>
            </a:r>
            <a:r>
              <a:rPr lang="en" sz="1600">
                <a:solidFill>
                  <a:schemeClr val="dk1"/>
                </a:solidFill>
              </a:rPr>
              <a:t> 0.1380 (13.8%) (Best performing group)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Warengruppe </a:t>
            </a:r>
            <a:r>
              <a:rPr b="1" lang="en" sz="1600">
                <a:solidFill>
                  <a:schemeClr val="dk1"/>
                </a:solidFill>
              </a:rPr>
              <a:t>3:</a:t>
            </a:r>
            <a:r>
              <a:rPr lang="en" sz="1600">
                <a:solidFill>
                  <a:schemeClr val="dk1"/>
                </a:solidFill>
              </a:rPr>
              <a:t> 0.2042 (20.4%)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Warengruppe </a:t>
            </a:r>
            <a:r>
              <a:rPr b="1" lang="en" sz="1600">
                <a:solidFill>
                  <a:schemeClr val="dk1"/>
                </a:solidFill>
              </a:rPr>
              <a:t>4:</a:t>
            </a:r>
            <a:r>
              <a:rPr lang="en" sz="1600">
                <a:solidFill>
                  <a:schemeClr val="dk1"/>
                </a:solidFill>
              </a:rPr>
              <a:t> 0.2394 (23.9%)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Warengruppe </a:t>
            </a:r>
            <a:r>
              <a:rPr b="1" lang="en" sz="1600">
                <a:solidFill>
                  <a:schemeClr val="dk1"/>
                </a:solidFill>
              </a:rPr>
              <a:t>5:</a:t>
            </a:r>
            <a:r>
              <a:rPr lang="en" sz="1600">
                <a:solidFill>
                  <a:schemeClr val="dk1"/>
                </a:solidFill>
              </a:rPr>
              <a:t> 0.1451 (14.5%)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Warengruppe </a:t>
            </a:r>
            <a:r>
              <a:rPr b="1" lang="en" sz="1600">
                <a:solidFill>
                  <a:schemeClr val="dk1"/>
                </a:solidFill>
              </a:rPr>
              <a:t>6:</a:t>
            </a:r>
            <a:r>
              <a:rPr lang="en" sz="1600">
                <a:solidFill>
                  <a:schemeClr val="dk1"/>
                </a:solidFill>
              </a:rPr>
              <a:t> 0.5812 (58.1%) (Hardest to predict)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183825"/>
            <a:ext cx="85206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"Worst Fail" vs. "Best Improvement"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641525"/>
            <a:ext cx="8520600" cy="4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b="1" lang="en" sz="1600" u="sng">
                <a:solidFill>
                  <a:schemeClr val="dk1"/>
                </a:solidFill>
              </a:rPr>
              <a:t>Worst Fail (The Model's Blind Spot)</a:t>
            </a:r>
            <a:endParaRPr b="1" sz="1600" u="sng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Date:</a:t>
            </a:r>
            <a:r>
              <a:rPr lang="en" sz="1600">
                <a:solidFill>
                  <a:schemeClr val="dk1"/>
                </a:solidFill>
              </a:rPr>
              <a:t> 2017-12-31 (New Year's Eve)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Actual Sales:</a:t>
            </a:r>
            <a:r>
              <a:rPr lang="en" sz="1600">
                <a:solidFill>
                  <a:schemeClr val="dk1"/>
                </a:solidFill>
              </a:rPr>
              <a:t> 1,432.42 €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Predicted:</a:t>
            </a:r>
            <a:r>
              <a:rPr lang="en" sz="1600">
                <a:solidFill>
                  <a:schemeClr val="dk1"/>
                </a:solidFill>
              </a:rPr>
              <a:t> 262.21 €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Error: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1,170.21 € (Underestimated by ~82%)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Diagnosis:</a:t>
            </a:r>
            <a:r>
              <a:rPr lang="en" sz="1600">
                <a:solidFill>
                  <a:schemeClr val="dk1"/>
                </a:solidFill>
              </a:rPr>
              <a:t> The model treated this as a regular Sunday. It failed to capture the massive, irregular demand spike specific to New Year's Eve.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b="1" lang="en" sz="1600" u="sng">
                <a:solidFill>
                  <a:schemeClr val="dk1"/>
                </a:solidFill>
              </a:rPr>
              <a:t>Best Improvement (Model Strength)</a:t>
            </a:r>
            <a:endParaRPr b="1" sz="1600" u="sng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Date:</a:t>
            </a:r>
            <a:r>
              <a:rPr lang="en" sz="1600">
                <a:solidFill>
                  <a:schemeClr val="dk1"/>
                </a:solidFill>
              </a:rPr>
              <a:t> 2017-08-13 (Summer Sunday)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Actual Sales:</a:t>
            </a:r>
            <a:r>
              <a:rPr lang="en" sz="1600">
                <a:solidFill>
                  <a:schemeClr val="dk1"/>
                </a:solidFill>
              </a:rPr>
              <a:t> 537.19 €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Predicted:</a:t>
            </a:r>
            <a:r>
              <a:rPr lang="en" sz="1600">
                <a:solidFill>
                  <a:schemeClr val="dk1"/>
                </a:solidFill>
              </a:rPr>
              <a:t> 515.50 €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Error: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21.69 € (Only ~4% Error)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b="1" lang="en" sz="1600">
                <a:solidFill>
                  <a:schemeClr val="dk1"/>
                </a:solidFill>
              </a:rPr>
              <a:t>Success Factor:</a:t>
            </a:r>
            <a:r>
              <a:rPr lang="en" sz="1600">
                <a:solidFill>
                  <a:schemeClr val="dk1"/>
                </a:solidFill>
              </a:rPr>
              <a:t> Unlike the linear baseline, the Neural Network correctly identified the non-linear interaction between "Sunday" and "Summer Weather," predicting the high volume almost perfectly.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360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Conclusion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68225" y="1017725"/>
            <a:ext cx="8520600" cy="39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Summary: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Transitioning from Linear Regression to Neural Networks improved prediction accuracy by </a:t>
            </a:r>
            <a:r>
              <a:rPr b="1" lang="en" sz="1600">
                <a:solidFill>
                  <a:schemeClr val="dk1"/>
                </a:solidFill>
              </a:rPr>
              <a:t>~37%</a:t>
            </a:r>
            <a:r>
              <a:rPr lang="en" sz="1600">
                <a:solidFill>
                  <a:schemeClr val="dk1"/>
                </a:solidFill>
              </a:rPr>
              <a:t> (MAPE dropped from </a:t>
            </a:r>
            <a:r>
              <a:rPr b="1" lang="en" sz="1600">
                <a:solidFill>
                  <a:schemeClr val="dk1"/>
                </a:solidFill>
              </a:rPr>
              <a:t>32.1%</a:t>
            </a:r>
            <a:r>
              <a:rPr lang="en" sz="1600">
                <a:solidFill>
                  <a:schemeClr val="dk1"/>
                </a:solidFill>
              </a:rPr>
              <a:t> to </a:t>
            </a:r>
            <a:r>
              <a:rPr b="1" lang="en" sz="1600">
                <a:solidFill>
                  <a:schemeClr val="dk1"/>
                </a:solidFill>
              </a:rPr>
              <a:t>20.2%</a:t>
            </a:r>
            <a:r>
              <a:rPr lang="en" sz="1600">
                <a:solidFill>
                  <a:schemeClr val="dk1"/>
                </a:solidFill>
              </a:rPr>
              <a:t>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Key Learnings: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Feature Engineering:</a:t>
            </a:r>
            <a:r>
              <a:rPr lang="en" sz="1600">
                <a:solidFill>
                  <a:schemeClr val="dk1"/>
                </a:solidFill>
              </a:rPr>
              <a:t> Simple flags (Weekends/Holidays) were more impactful than complex raw data.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Non-Linear Patterns:</a:t>
            </a:r>
            <a:r>
              <a:rPr lang="en" sz="1600">
                <a:solidFill>
                  <a:schemeClr val="dk1"/>
                </a:solidFill>
              </a:rPr>
              <a:t> Neural Networks successfully captured complex interactions (e.g., Summer + Weekend) that linear models missed.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Next Steps: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Incorporate </a:t>
            </a:r>
            <a:r>
              <a:rPr b="1" lang="en" sz="1600">
                <a:solidFill>
                  <a:schemeClr val="dk1"/>
                </a:solidFill>
              </a:rPr>
              <a:t>"School Holidays"</a:t>
            </a:r>
            <a:r>
              <a:rPr lang="en" sz="1600">
                <a:solidFill>
                  <a:schemeClr val="dk1"/>
                </a:solidFill>
              </a:rPr>
              <a:t> and specific </a:t>
            </a:r>
            <a:r>
              <a:rPr b="1" lang="en" sz="1600">
                <a:solidFill>
                  <a:schemeClr val="dk1"/>
                </a:solidFill>
              </a:rPr>
              <a:t>"Public Holidays"</a:t>
            </a:r>
            <a:r>
              <a:rPr lang="en" sz="1600">
                <a:solidFill>
                  <a:schemeClr val="dk1"/>
                </a:solidFill>
              </a:rPr>
              <a:t> (like New Year's Eve) as explicit features to fix the "Worst Fail" cases.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